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74" r:id="rId3"/>
    <p:sldId id="257" r:id="rId4"/>
    <p:sldId id="259" r:id="rId5"/>
    <p:sldId id="262" r:id="rId6"/>
    <p:sldId id="264" r:id="rId7"/>
    <p:sldId id="266" r:id="rId8"/>
    <p:sldId id="271" r:id="rId9"/>
    <p:sldId id="273" r:id="rId10"/>
    <p:sldId id="272" r:id="rId11"/>
    <p:sldId id="270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1" d="100"/>
          <a:sy n="121" d="100"/>
        </p:scale>
        <p:origin x="160" y="80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23989" y="1647051"/>
            <a:ext cx="7600936" cy="35638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5222" y="2005899"/>
            <a:ext cx="9037923" cy="880241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>
              <a:defRPr sz="3800" b="1">
                <a:solidFill>
                  <a:srgbClr val="0F2236"/>
                </a:solidFill>
                <a:latin typeface="맑은 고딕"/>
              </a:defRPr>
            </a:pPr>
            <a:r>
              <a:rPr sz="5000"/>
              <a:t>IoT 디바이스 보안 점검 </a:t>
            </a:r>
            <a:r>
              <a:rPr lang="ko-KR" altLang="en-US" sz="5000"/>
              <a:t>도우미</a:t>
            </a:r>
            <a:endParaRPr sz="5000"/>
          </a:p>
        </p:txBody>
      </p:sp>
      <p:sp>
        <p:nvSpPr>
          <p:cNvPr id="5" name="TextBox 4"/>
          <p:cNvSpPr txBox="1"/>
          <p:nvPr/>
        </p:nvSpPr>
        <p:spPr>
          <a:xfrm>
            <a:off x="2267273" y="3325091"/>
            <a:ext cx="7654404" cy="37241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>
              <a:defRPr sz="170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700">
                <a:solidFill>
                  <a:srgbClr val="64748B"/>
                </a:solidFill>
                <a:latin typeface="맑은 고딕"/>
              </a:rPr>
              <a:t>RAG와 Text2SQL을 활용한 일반 사용자 맞춤형 스마트 기기 보안 안내 서비스</a:t>
            </a:r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4983480" y="5650992"/>
            <a:ext cx="222199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72855" y="5873349"/>
            <a:ext cx="3909848" cy="57246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b="1"/>
              <a:t>상명대학교</a:t>
            </a:r>
            <a:r>
              <a:rPr lang="en-US" altLang="ko-KR" b="1"/>
              <a:t> </a:t>
            </a:r>
            <a:r>
              <a:rPr lang="ko-KR" altLang="ko-KR" sz="1000" b="1">
                <a:solidFill>
                  <a:srgbClr val="64748B"/>
                </a:solidFill>
                <a:latin typeface="맑은 고딕"/>
              </a:rPr>
              <a:t>RAG · AI Agent 기반 실무형 AI 서비스 개발 과정</a:t>
            </a:r>
          </a:p>
          <a:p>
            <a:pPr algn="r">
              <a:defRPr sz="1000" b="0">
                <a:solidFill>
                  <a:srgbClr val="64748B"/>
                </a:solidFill>
                <a:latin typeface="맑은 고딕"/>
              </a:defRPr>
            </a:pPr>
            <a:endParaRPr lang="ko-KR" altLang="ko-KR" sz="1000" b="1">
              <a:solidFill>
                <a:srgbClr val="64748B"/>
              </a:solidFill>
              <a:latin typeface="맑은 고딕"/>
            </a:endParaRPr>
          </a:p>
          <a:p>
            <a:pPr algn="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유기민</a:t>
            </a:r>
            <a:r>
              <a:rPr lang="en-US" altLang="ko-KR"/>
              <a:t>, </a:t>
            </a:r>
            <a:r>
              <a:rPr lang="ko-KR" altLang="en-US"/>
              <a:t>강후민</a:t>
            </a:r>
            <a:r>
              <a:rPr lang="en-US" altLang="ko-KR"/>
              <a:t>, </a:t>
            </a:r>
            <a:r>
              <a:rPr lang="ko-KR" altLang="en-US"/>
              <a:t>박찬웅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43CFC-F435-1DDF-A9D3-13CFACAF9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64C34-B11E-DD2E-69C3-874D733A1AC3}"/>
              </a:ext>
            </a:extLst>
          </p:cNvPr>
          <p:cNvSpPr txBox="1"/>
          <p:nvPr/>
        </p:nvSpPr>
        <p:spPr>
          <a:xfrm>
            <a:off x="807615" y="1240258"/>
            <a:ext cx="8825116" cy="37241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altLang="ko-KR" dirty="0"/>
              <a:t>1. </a:t>
            </a:r>
            <a:r>
              <a:rPr lang="ko-KR" altLang="en-US" dirty="0"/>
              <a:t>에이전트 목적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ACBFCB-47C6-4F06-490F-9E4AD1E7232F}"/>
              </a:ext>
            </a:extLst>
          </p:cNvPr>
          <p:cNvSpPr txBox="1"/>
          <p:nvPr/>
        </p:nvSpPr>
        <p:spPr>
          <a:xfrm>
            <a:off x="807615" y="1645919"/>
            <a:ext cx="8825116" cy="26622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dirty="0"/>
              <a:t>해결하고자 하는 문제</a:t>
            </a:r>
            <a:r>
              <a:rPr lang="en-US" altLang="ko-KR" dirty="0"/>
              <a:t>(Use Case) </a:t>
            </a:r>
            <a:r>
              <a:rPr lang="ko-KR" altLang="en-US" dirty="0"/>
              <a:t>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374D14-A33A-B098-A7FD-1BF72DD8151C}"/>
              </a:ext>
            </a:extLst>
          </p:cNvPr>
          <p:cNvSpPr txBox="1"/>
          <p:nvPr/>
        </p:nvSpPr>
        <p:spPr>
          <a:xfrm>
            <a:off x="807615" y="2319249"/>
            <a:ext cx="8825116" cy="37241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altLang="ko-KR" dirty="0"/>
              <a:t>2. RAG</a:t>
            </a:r>
            <a:r>
              <a:rPr lang="ko-KR" altLang="en-US" dirty="0"/>
              <a:t>에 사용한 </a:t>
            </a:r>
            <a:r>
              <a:rPr lang="en-US" altLang="ko-KR" dirty="0"/>
              <a:t>PDF </a:t>
            </a:r>
            <a:r>
              <a:rPr lang="ko-KR" altLang="en-US" dirty="0"/>
              <a:t>문서 정보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26E301-615B-AAD0-222E-0FFDD46F1343}"/>
              </a:ext>
            </a:extLst>
          </p:cNvPr>
          <p:cNvSpPr txBox="1"/>
          <p:nvPr/>
        </p:nvSpPr>
        <p:spPr>
          <a:xfrm>
            <a:off x="807615" y="2724910"/>
            <a:ext cx="8825116" cy="26622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dirty="0"/>
              <a:t>출처와 활용 목적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3294C-0653-0D77-2046-BC6A877C8098}"/>
              </a:ext>
            </a:extLst>
          </p:cNvPr>
          <p:cNvSpPr txBox="1"/>
          <p:nvPr/>
        </p:nvSpPr>
        <p:spPr>
          <a:xfrm>
            <a:off x="807615" y="3398242"/>
            <a:ext cx="6891213" cy="37241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altLang="ko-KR" dirty="0"/>
              <a:t>3. Text2SQL</a:t>
            </a:r>
            <a:r>
              <a:rPr lang="ko-KR" altLang="en-US" dirty="0"/>
              <a:t>에 사용한 </a:t>
            </a:r>
            <a:r>
              <a:rPr lang="en-US" altLang="ko-KR" dirty="0"/>
              <a:t>CSV </a:t>
            </a:r>
            <a:r>
              <a:rPr lang="ko-KR" altLang="en-US" dirty="0"/>
              <a:t>문서 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E641CC-C178-5D3A-5B20-FAE91BDCACC0}"/>
              </a:ext>
            </a:extLst>
          </p:cNvPr>
          <p:cNvSpPr txBox="1"/>
          <p:nvPr/>
        </p:nvSpPr>
        <p:spPr>
          <a:xfrm>
            <a:off x="807615" y="3803903"/>
            <a:ext cx="8825116" cy="26622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dirty="0"/>
              <a:t>출처와 활용 목적</a:t>
            </a:r>
          </a:p>
        </p:txBody>
      </p:sp>
      <p:cxnSp>
        <p:nvCxnSpPr>
          <p:cNvPr id="13" name="Connector 31">
            <a:extLst>
              <a:ext uri="{FF2B5EF4-FFF2-40B4-BE49-F238E27FC236}">
                <a16:creationId xmlns:a16="http://schemas.microsoft.com/office/drawing/2014/main" id="{0CB82701-EA1F-1277-6A84-6945D9936FB3}"/>
              </a:ext>
            </a:extLst>
          </p:cNvPr>
          <p:cNvCxnSpPr>
            <a:cxnSpLocks/>
          </p:cNvCxnSpPr>
          <p:nvPr/>
        </p:nvCxnSpPr>
        <p:spPr>
          <a:xfrm>
            <a:off x="807615" y="2130551"/>
            <a:ext cx="873022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32">
            <a:extLst>
              <a:ext uri="{FF2B5EF4-FFF2-40B4-BE49-F238E27FC236}">
                <a16:creationId xmlns:a16="http://schemas.microsoft.com/office/drawing/2014/main" id="{1EF1554A-4F9D-61D5-E964-CC48F3ADE191}"/>
              </a:ext>
            </a:extLst>
          </p:cNvPr>
          <p:cNvCxnSpPr>
            <a:cxnSpLocks/>
          </p:cNvCxnSpPr>
          <p:nvPr/>
        </p:nvCxnSpPr>
        <p:spPr>
          <a:xfrm>
            <a:off x="807615" y="3209543"/>
            <a:ext cx="873022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33">
            <a:extLst>
              <a:ext uri="{FF2B5EF4-FFF2-40B4-BE49-F238E27FC236}">
                <a16:creationId xmlns:a16="http://schemas.microsoft.com/office/drawing/2014/main" id="{E2ECC6C0-3DDB-393D-8D43-A528539F776D}"/>
              </a:ext>
            </a:extLst>
          </p:cNvPr>
          <p:cNvCxnSpPr>
            <a:cxnSpLocks/>
          </p:cNvCxnSpPr>
          <p:nvPr/>
        </p:nvCxnSpPr>
        <p:spPr>
          <a:xfrm>
            <a:off x="807615" y="4288535"/>
            <a:ext cx="873022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6">
            <a:extLst>
              <a:ext uri="{FF2B5EF4-FFF2-40B4-BE49-F238E27FC236}">
                <a16:creationId xmlns:a16="http://schemas.microsoft.com/office/drawing/2014/main" id="{FA349A23-847F-ED24-F276-1F1253D6160C}"/>
              </a:ext>
            </a:extLst>
          </p:cNvPr>
          <p:cNvCxnSpPr/>
          <p:nvPr/>
        </p:nvCxnSpPr>
        <p:spPr>
          <a:xfrm>
            <a:off x="5041287" y="6748449"/>
            <a:ext cx="222199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E62690-23EC-0175-A0A0-7669F088DF6B}"/>
              </a:ext>
            </a:extLst>
          </p:cNvPr>
          <p:cNvSpPr txBox="1"/>
          <p:nvPr/>
        </p:nvSpPr>
        <p:spPr>
          <a:xfrm>
            <a:off x="807615" y="4528950"/>
            <a:ext cx="8825116" cy="37241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altLang="ko-KR" dirty="0"/>
              <a:t>4. </a:t>
            </a:r>
            <a:r>
              <a:rPr lang="ko-KR" altLang="en-US" dirty="0" err="1"/>
              <a:t>랭그래프</a:t>
            </a:r>
            <a:r>
              <a:rPr lang="ko-KR" altLang="en-US" dirty="0"/>
              <a:t> 기반 </a:t>
            </a:r>
            <a:r>
              <a:rPr lang="ko-KR" altLang="en-US" dirty="0" err="1"/>
              <a:t>에이전틱</a:t>
            </a:r>
            <a:r>
              <a:rPr lang="ko-KR" altLang="en-US" dirty="0"/>
              <a:t> 시스템 전체 구조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359A19-0A0D-49A6-CC60-BDC32C109109}"/>
              </a:ext>
            </a:extLst>
          </p:cNvPr>
          <p:cNvSpPr txBox="1"/>
          <p:nvPr/>
        </p:nvSpPr>
        <p:spPr>
          <a:xfrm>
            <a:off x="807615" y="4901360"/>
            <a:ext cx="8825116" cy="26622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dirty="0"/>
              <a:t>기본 베이스라인에서 고도화해본 것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7D706-779C-1E7E-E8BA-2D7601EF26B4}"/>
              </a:ext>
            </a:extLst>
          </p:cNvPr>
          <p:cNvSpPr txBox="1"/>
          <p:nvPr/>
        </p:nvSpPr>
        <p:spPr>
          <a:xfrm>
            <a:off x="807615" y="5574692"/>
            <a:ext cx="8825116" cy="37241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altLang="ko-KR" dirty="0"/>
              <a:t>5. </a:t>
            </a:r>
            <a:r>
              <a:rPr lang="ko-KR" altLang="en-US" dirty="0"/>
              <a:t>데모에서 던져볼 수 있는 질문 </a:t>
            </a:r>
            <a:r>
              <a:rPr lang="en-US" altLang="ko-KR" dirty="0"/>
              <a:t>5</a:t>
            </a:r>
            <a:r>
              <a:rPr lang="ko-KR" altLang="en-US" dirty="0"/>
              <a:t>가지 이상 및 실시간 데모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B9DD4-A732-9E52-7116-D5EBFC6A38A5}"/>
              </a:ext>
            </a:extLst>
          </p:cNvPr>
          <p:cNvSpPr txBox="1"/>
          <p:nvPr/>
        </p:nvSpPr>
        <p:spPr>
          <a:xfrm>
            <a:off x="807615" y="5980353"/>
            <a:ext cx="8825116" cy="26622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dirty="0"/>
              <a:t>완성된 데모에서 제대로 동작하는 예시 질문 </a:t>
            </a:r>
            <a:r>
              <a:rPr lang="en-US" altLang="ko-KR" dirty="0"/>
              <a:t>5</a:t>
            </a:r>
            <a:r>
              <a:rPr lang="ko-KR" altLang="en-US" dirty="0"/>
              <a:t>가지 이상 준비</a:t>
            </a:r>
          </a:p>
        </p:txBody>
      </p:sp>
      <p:cxnSp>
        <p:nvCxnSpPr>
          <p:cNvPr id="24" name="Connector 32">
            <a:extLst>
              <a:ext uri="{FF2B5EF4-FFF2-40B4-BE49-F238E27FC236}">
                <a16:creationId xmlns:a16="http://schemas.microsoft.com/office/drawing/2014/main" id="{758EFDF1-8944-442A-AF67-72186ED2F663}"/>
              </a:ext>
            </a:extLst>
          </p:cNvPr>
          <p:cNvCxnSpPr>
            <a:cxnSpLocks/>
          </p:cNvCxnSpPr>
          <p:nvPr/>
        </p:nvCxnSpPr>
        <p:spPr>
          <a:xfrm>
            <a:off x="807615" y="5385993"/>
            <a:ext cx="873022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33">
            <a:extLst>
              <a:ext uri="{FF2B5EF4-FFF2-40B4-BE49-F238E27FC236}">
                <a16:creationId xmlns:a16="http://schemas.microsoft.com/office/drawing/2014/main" id="{A4890335-36A5-F636-1876-DA21443E6244}"/>
              </a:ext>
            </a:extLst>
          </p:cNvPr>
          <p:cNvCxnSpPr>
            <a:cxnSpLocks/>
          </p:cNvCxnSpPr>
          <p:nvPr/>
        </p:nvCxnSpPr>
        <p:spPr>
          <a:xfrm>
            <a:off x="807615" y="6464985"/>
            <a:ext cx="873022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4833B28-CB55-977D-E720-0CA223E38D00}"/>
              </a:ext>
            </a:extLst>
          </p:cNvPr>
          <p:cNvSpPr txBox="1"/>
          <p:nvPr/>
        </p:nvSpPr>
        <p:spPr>
          <a:xfrm>
            <a:off x="807615" y="339709"/>
            <a:ext cx="954107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3000" b="1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377479610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52288"/>
            <a:ext cx="2896819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01 ·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에이전트 목적 </a:t>
            </a:r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해결하고자 하는 문제 정의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t>왜 이 Agent가 필요한가?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4389120" cy="38404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800" b="1">
                <a:solidFill>
                  <a:srgbClr val="0F2236"/>
                </a:solidFill>
                <a:latin typeface="맑은 고딕"/>
              </a:defRPr>
            </a:pPr>
            <a:r>
              <a:t>사용자가 겪는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31720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/>
              <a:t>이상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24912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dirty="0" err="1"/>
              <a:t>홈캠이</a:t>
            </a:r>
            <a:r>
              <a:rPr lang="ko-KR" altLang="en-US" dirty="0"/>
              <a:t> 혼자 움직이거나 모르는 로그인이 발생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10711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/>
              <a:t>판단의 어려움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803903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해킹인지 오작동인지, 무엇부터 확인할지 모름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89704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/>
              <a:t>정보의 분산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882896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기술 가이드·보안 항목·신고처가 서로 흩어져 있음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1641" y="3260979"/>
            <a:ext cx="464376" cy="538353"/>
          </a:xfrm>
          <a:prstGeom prst="rect">
            <a:avLst/>
          </a:prstGeom>
          <a:noFill/>
          <a:ln>
            <a:noFill/>
          </a:ln>
        </p:spPr>
        <p:txBody>
          <a:bodyPr wrap="none" lIns="54864" tIns="54864" rIns="54864" bIns="54864" anchor="ctr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맑은 고딕"/>
              </a:defRPr>
            </a:pPr>
            <a:r>
              <a:rPr>
                <a:solidFill>
                  <a:schemeClr val="tx1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1993392"/>
            <a:ext cx="4800600" cy="47548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23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/>
              <a:t>질문 한 번으로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770632"/>
            <a:ext cx="4709160" cy="12895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500"/>
              </a:spcAft>
              <a:defRPr sz="1800" b="0">
                <a:solidFill>
                  <a:srgbClr val="1F2937"/>
                </a:solidFill>
                <a:latin typeface="맑은 고딕"/>
              </a:defRPr>
            </a:pPr>
            <a:r>
              <a:rPr lang="ko-KR" altLang="en-US" dirty="0"/>
              <a:t>① 공식 보안 문서에서 점검 방법 검색</a:t>
            </a:r>
          </a:p>
          <a:p>
            <a:pPr>
              <a:spcAft>
                <a:spcPts val="1500"/>
              </a:spcAft>
              <a:defRPr sz="1800" b="0">
                <a:solidFill>
                  <a:srgbClr val="1F2937"/>
                </a:solidFill>
                <a:latin typeface="맑은 고딕"/>
              </a:defRPr>
            </a:pPr>
            <a:r>
              <a:rPr lang="ko-KR" altLang="en-US" dirty="0"/>
              <a:t>② 구조화된 </a:t>
            </a:r>
            <a:r>
              <a:rPr lang="ko-KR" altLang="en-US" dirty="0" err="1"/>
              <a:t>대응·기관</a:t>
            </a:r>
            <a:r>
              <a:rPr lang="ko-KR" altLang="en-US" dirty="0"/>
              <a:t> 정보 조회</a:t>
            </a:r>
          </a:p>
          <a:p>
            <a:pPr>
              <a:spcAft>
                <a:spcPts val="1500"/>
              </a:spcAft>
              <a:defRPr sz="1800" b="0">
                <a:solidFill>
                  <a:srgbClr val="1F2937"/>
                </a:solidFill>
                <a:latin typeface="맑은 고딕"/>
              </a:defRPr>
            </a:pPr>
            <a:r>
              <a:rPr lang="ko-KR" altLang="en-US" dirty="0"/>
              <a:t>③ 위험도와 즉시 조치를 쉬운 말로 안내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36436"/>
            <a:ext cx="148971" cy="233553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9808" y="3209544"/>
            <a:ext cx="420624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9808" y="4288536"/>
            <a:ext cx="420624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9808" y="5367528"/>
            <a:ext cx="420624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27648" y="2587752"/>
            <a:ext cx="4736592" cy="0"/>
          </a:xfrm>
          <a:prstGeom prst="line">
            <a:avLst/>
          </a:prstGeom>
          <a:ln w="1524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52288"/>
            <a:ext cx="3238259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02 ·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RAG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에 사용한 </a:t>
            </a:r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PDF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문서 정보 </a:t>
            </a:r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출처와 활용 목적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t>RAG에 사용한 PDF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3310128" cy="658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1. IoT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공통 보안 가이드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999232"/>
            <a:ext cx="3273552" cy="1874519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한국인터넷진흥원(KISA)·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IoT</a:t>
            </a: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 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보안얼라이언스</a:t>
            </a:r>
            <a:endParaRPr lang="ko-KR" altLang="ko-KR" sz="1100" b="1" dirty="0">
              <a:solidFill>
                <a:srgbClr val="0F2236"/>
              </a:solidFill>
              <a:latin typeface="맑은 고딕"/>
            </a:endParaRP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endParaRPr lang="en-US" sz="1100" b="1" dirty="0">
              <a:solidFill>
                <a:srgbClr val="0F2236"/>
              </a:solidFill>
              <a:latin typeface="맑은 고딕"/>
            </a:endParaRP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sz="1100" dirty="0"/>
              <a:t>활용목적</a:t>
            </a: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sz="1100" dirty="0"/>
              <a:t>IoT </a:t>
            </a:r>
            <a:r>
              <a:rPr lang="ko-KR" altLang="en-US" sz="1100" dirty="0"/>
              <a:t>공통 보안위협과 제품 </a:t>
            </a:r>
            <a:r>
              <a:rPr lang="ko-KR" altLang="en-US" sz="1100" dirty="0" err="1"/>
              <a:t>전주기</a:t>
            </a:r>
            <a:r>
              <a:rPr lang="ko-KR" altLang="en-US" sz="1100" dirty="0"/>
              <a:t> 보안 점검 기준 검색</a:t>
            </a:r>
            <a:endParaRPr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4361688" y="1965960"/>
            <a:ext cx="3310128" cy="658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54864" tIns="54864" rIns="54864" bIns="54864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2. </a:t>
            </a:r>
            <a:r>
              <a:rPr lang="ko-KR" altLang="ko-KR" sz="13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/>
              </a:rPr>
              <a:t>홈·가전 IoT 보안가이드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65008" y="1965960"/>
            <a:ext cx="3310128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3.</a:t>
            </a:r>
            <a:r>
              <a:rPr lang="ko-KR" altLang="ko-KR" sz="13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/>
              </a:rPr>
              <a:t> 사물인터넷 환경에서의 암호·인증기술 이용 안내서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" y="6536436"/>
            <a:ext cx="148971" cy="233553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2999232"/>
            <a:ext cx="3273552" cy="160159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한국인터넷진흥원(KISA)·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IoT</a:t>
            </a: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 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보안얼라이언스</a:t>
            </a:r>
            <a:endParaRPr lang="ko-KR" altLang="ko-KR" sz="1100" b="1" dirty="0">
              <a:solidFill>
                <a:srgbClr val="0F2236"/>
              </a:solidFill>
              <a:latin typeface="맑은 고딕"/>
            </a:endParaRP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endParaRPr lang="en-US" sz="1100" b="1" dirty="0">
              <a:solidFill>
                <a:srgbClr val="0F2236"/>
              </a:solidFill>
              <a:latin typeface="맑은 고딕"/>
            </a:endParaRP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sz="1100" dirty="0"/>
              <a:t>활용목적</a:t>
            </a: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sz="1100" dirty="0"/>
              <a:t>IoT </a:t>
            </a:r>
            <a:r>
              <a:rPr lang="ko-KR" altLang="en-US" sz="1100" dirty="0"/>
              <a:t>통신 암호화</a:t>
            </a:r>
            <a:r>
              <a:rPr lang="en-US" altLang="ko-KR" sz="1100" dirty="0"/>
              <a:t>, </a:t>
            </a:r>
            <a:r>
              <a:rPr lang="ko-KR" altLang="en-US" sz="1100" dirty="0"/>
              <a:t>기기</a:t>
            </a:r>
            <a:r>
              <a:rPr lang="en-US" altLang="ko-KR" sz="1100" dirty="0"/>
              <a:t>, </a:t>
            </a:r>
            <a:r>
              <a:rPr lang="ko-KR" altLang="en-US" sz="1100" dirty="0"/>
              <a:t>사용자 인증 및 </a:t>
            </a:r>
            <a:r>
              <a:rPr lang="ko-KR" altLang="en-US" sz="1100" dirty="0" err="1"/>
              <a:t>암호키</a:t>
            </a:r>
            <a:r>
              <a:rPr lang="ko-KR" altLang="en-US" sz="1100" dirty="0"/>
              <a:t> 관리 기준 검색</a:t>
            </a:r>
            <a:endParaRPr sz="1100" dirty="0"/>
          </a:p>
        </p:txBody>
      </p:sp>
      <p:sp>
        <p:nvSpPr>
          <p:cNvPr id="33" name="TextBox 32"/>
          <p:cNvSpPr txBox="1"/>
          <p:nvPr/>
        </p:nvSpPr>
        <p:spPr>
          <a:xfrm>
            <a:off x="4361688" y="2999232"/>
            <a:ext cx="3273552" cy="160159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한국인터넷진흥원(KISA)·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IoT</a:t>
            </a: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 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보안얼라이언스</a:t>
            </a:r>
            <a:endParaRPr lang="ko-KR" altLang="ko-KR" sz="1100" b="1" dirty="0">
              <a:solidFill>
                <a:srgbClr val="0F2236"/>
              </a:solidFill>
              <a:latin typeface="맑은 고딕"/>
            </a:endParaRP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endParaRPr lang="en-US" sz="1100" b="1" dirty="0">
              <a:solidFill>
                <a:srgbClr val="0F2236"/>
              </a:solidFill>
              <a:latin typeface="맑은 고딕"/>
            </a:endParaRP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sz="1100" dirty="0"/>
              <a:t>활용목적</a:t>
            </a:r>
            <a:endParaRPr lang="en-US" altLang="ko-KR" sz="1100" dirty="0"/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홈캠·스마트</a:t>
            </a: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 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도어락</a:t>
            </a: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 등 가정용 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IoT</a:t>
            </a: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 기기의 보안 점검과 대응 방법 검색</a:t>
            </a:r>
            <a:endParaRPr lang="en-US" altLang="ko-KR" sz="1100" dirty="0"/>
          </a:p>
        </p:txBody>
      </p:sp>
      <p:cxnSp>
        <p:nvCxnSpPr>
          <p:cNvPr id="34" name="Connector 33"/>
          <p:cNvCxnSpPr/>
          <p:nvPr/>
        </p:nvCxnSpPr>
        <p:spPr>
          <a:xfrm>
            <a:off x="658368" y="2743200"/>
            <a:ext cx="3273552" cy="0"/>
          </a:xfrm>
          <a:prstGeom prst="line">
            <a:avLst/>
          </a:prstGeom>
          <a:ln w="1524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361688" y="2743200"/>
            <a:ext cx="3273552" cy="0"/>
          </a:xfrm>
          <a:prstGeom prst="line">
            <a:avLst/>
          </a:prstGeom>
          <a:ln w="1524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65008" y="2743200"/>
            <a:ext cx="3273552" cy="0"/>
          </a:xfrm>
          <a:prstGeom prst="line">
            <a:avLst/>
          </a:prstGeom>
          <a:ln w="1524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52288"/>
            <a:ext cx="3546035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03 · Text2SQL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에 사용한 </a:t>
            </a:r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CSV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문서 정보 </a:t>
            </a:r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출처와 활용 목적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t>Text2SQL에 사용한 CSV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38528"/>
            <a:ext cx="32735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500" b="1">
                <a:solidFill>
                  <a:srgbClr val="0F2236"/>
                </a:solidFill>
                <a:latin typeface="맑은 고딕"/>
              </a:defRPr>
            </a:pPr>
            <a:r>
              <a:rPr lang="en-US" altLang="ko-KR" sz="1500" b="1">
                <a:solidFill>
                  <a:srgbClr val="0F2236"/>
                </a:solidFill>
                <a:latin typeface="맑은 고딕"/>
              </a:rPr>
              <a:t>I</a:t>
            </a:r>
            <a:r>
              <a:rPr lang="ko-KR" altLang="ko-KR" sz="1500" b="1">
                <a:solidFill>
                  <a:srgbClr val="0F2236"/>
                </a:solidFill>
                <a:latin typeface="맑은 고딕"/>
              </a:rPr>
              <a:t>oT 공통 보안원칙 CSV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61688" y="2406728"/>
            <a:ext cx="3273552" cy="1349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한국인터넷진흥원(KISA)·</a:t>
            </a: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IoT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</a:t>
            </a: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보안얼라이언스</a:t>
            </a:r>
            <a:br>
              <a:rPr lang="ko-KR" altLang="ko-KR" sz="1150" dirty="0">
                <a:solidFill>
                  <a:srgbClr val="64748B"/>
                </a:solidFill>
                <a:latin typeface="맑은 고딕"/>
              </a:rPr>
            </a:b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활용 목적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IoT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공통 보안원칙과 점검 기준 조회</a:t>
            </a:r>
          </a:p>
          <a:p>
            <a:pPr algn="l">
              <a:defRPr sz="1150" b="0">
                <a:solidFill>
                  <a:srgbClr val="64748B"/>
                </a:solidFill>
                <a:latin typeface="맑은 고딕"/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361688" y="1938528"/>
            <a:ext cx="32735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500" b="1">
                <a:solidFill>
                  <a:srgbClr val="0F2236"/>
                </a:solidFill>
                <a:latin typeface="맑은 고딕"/>
              </a:defRPr>
            </a:pPr>
            <a:r>
              <a:rPr lang="en-US"/>
              <a:t>IoT </a:t>
            </a:r>
            <a:r>
              <a:rPr lang="ko-KR" altLang="en-US"/>
              <a:t>보안통제 </a:t>
            </a:r>
            <a:r>
              <a:rPr lang="en-US" altLang="ko-KR"/>
              <a:t>CSV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5008" y="2512302"/>
            <a:ext cx="3273552" cy="1138453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출처 기관 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한국인터넷진흥원(KISA)</a:t>
            </a:r>
            <a:br>
              <a:rPr lang="ko-KR" altLang="ko-KR" sz="1150" dirty="0">
                <a:solidFill>
                  <a:srgbClr val="64748B"/>
                </a:solidFill>
                <a:latin typeface="맑은 고딕"/>
              </a:rPr>
            </a:b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활용 목적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가정용 </a:t>
            </a: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IoT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기기의 보안통제 항목 조회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065008" y="1938528"/>
            <a:ext cx="32735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5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500" b="1">
                <a:solidFill>
                  <a:srgbClr val="0F2236"/>
                </a:solidFill>
                <a:latin typeface="맑은 고딕"/>
              </a:rPr>
              <a:t>STM32 디버깅 항목 CSV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379573"/>
            <a:ext cx="3273552" cy="140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STMicroelectronics</a:t>
            </a:r>
            <a:br>
              <a:rPr lang="ko-KR" altLang="ko-KR" sz="1150" dirty="0">
                <a:solidFill>
                  <a:srgbClr val="64748B"/>
                </a:solidFill>
                <a:latin typeface="맑은 고딕"/>
              </a:rPr>
            </a:b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활용 목적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STM32의 JTAG·SWD 등 디버그 인터페이스와 보안 고려사항 조회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58368" y="3785616"/>
            <a:ext cx="32735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5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500" b="1">
                <a:solidFill>
                  <a:srgbClr val="0F2236"/>
                </a:solidFill>
                <a:latin typeface="맑은 고딕"/>
              </a:rPr>
              <a:t>ESP32-H2 기능 CSV</a:t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1688" y="4226661"/>
            <a:ext cx="3273552" cy="140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Espressif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Systems</a:t>
            </a:r>
            <a:br>
              <a:rPr lang="ko-KR" altLang="ko-KR" sz="1150" dirty="0">
                <a:solidFill>
                  <a:srgbClr val="64748B"/>
                </a:solidFill>
                <a:latin typeface="맑은 고딕"/>
              </a:rPr>
            </a:b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활용 목적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ESP32-H2의 </a:t>
            </a: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eFuse·JTAG·암호화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등 하드웨어 보안 기능 조회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361688" y="3785616"/>
            <a:ext cx="32735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5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500" b="1">
                <a:solidFill>
                  <a:srgbClr val="0F2236"/>
                </a:solidFill>
                <a:latin typeface="맑은 고딕"/>
              </a:rPr>
              <a:t>IoT 신고기관 CSV</a:t>
            </a: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226661"/>
            <a:ext cx="3273552" cy="140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한국인터넷진흥원(KISA)·경찰청</a:t>
            </a:r>
            <a:br>
              <a:rPr lang="ko-KR" altLang="ko-KR" sz="1150" dirty="0">
                <a:solidFill>
                  <a:srgbClr val="64748B"/>
                </a:solidFill>
                <a:latin typeface="맑은 고딕"/>
              </a:rPr>
            </a:b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활용 목적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KISA 118, 보호나라, 경찰청 </a:t>
            </a: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ECRM의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연락처와 담당 업무 조회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065008" y="3785616"/>
            <a:ext cx="32735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5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500" b="1">
                <a:solidFill>
                  <a:srgbClr val="0F2236"/>
                </a:solidFill>
                <a:latin typeface="맑은 고딕"/>
              </a:rPr>
              <a:t>IoT 보안사고 유형 CSV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65008" y="4226661"/>
            <a:ext cx="3273552" cy="140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한국인터넷진흥원(KISA)·경찰청</a:t>
            </a:r>
            <a:br>
              <a:rPr lang="ko-KR" altLang="ko-KR" sz="1150" dirty="0">
                <a:solidFill>
                  <a:srgbClr val="64748B"/>
                </a:solidFill>
                <a:latin typeface="맑은 고딕"/>
              </a:rPr>
            </a:b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활용 목적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보안사고 유형별 이상 증상과 권장 대응 방법 조회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58368" y="6536436"/>
            <a:ext cx="148971" cy="233553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7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2322576"/>
            <a:ext cx="327355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361688" y="2322576"/>
            <a:ext cx="327355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065008" y="2322576"/>
            <a:ext cx="327355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58368" y="4169663"/>
            <a:ext cx="327355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361688" y="4169664"/>
            <a:ext cx="327355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042148" y="4169664"/>
            <a:ext cx="327355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52288"/>
            <a:ext cx="4999958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04 · </a:t>
            </a:r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랭그래프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기반 </a:t>
            </a:r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에이전틱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시스템 전체 구조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기본 베이스라인에서 고도화해본 것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rPr dirty="0" err="1"/>
              <a:t>LangGraph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Agent </a:t>
            </a:r>
            <a:r>
              <a:rPr dirty="0" err="1"/>
              <a:t>구조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698480" cy="34747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의도에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RAG와</a:t>
            </a:r>
            <a:r>
              <a:rPr dirty="0"/>
              <a:t> </a:t>
            </a:r>
            <a:r>
              <a:rPr dirty="0" err="1"/>
              <a:t>DB를</a:t>
            </a:r>
            <a:r>
              <a:rPr dirty="0"/>
              <a:t> </a:t>
            </a:r>
            <a:r>
              <a:rPr dirty="0" err="1"/>
              <a:t>선택하거나</a:t>
            </a:r>
            <a:r>
              <a:rPr dirty="0"/>
              <a:t> </a:t>
            </a:r>
            <a:r>
              <a:rPr dirty="0" err="1"/>
              <a:t>병렬</a:t>
            </a:r>
            <a:r>
              <a:rPr dirty="0"/>
              <a:t> </a:t>
            </a:r>
            <a:r>
              <a:rPr dirty="0" err="1"/>
              <a:t>실행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09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537960"/>
            <a:ext cx="1086307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IoT 디바이스 보안 점검 도우미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9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2B7B226-1CE4-D71D-EB72-087F39FF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736" y="1280159"/>
            <a:ext cx="6812264" cy="510919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208A1F6-090D-3ED8-F5B8-A56F60B4D89F}"/>
              </a:ext>
            </a:extLst>
          </p:cNvPr>
          <p:cNvSpPr txBox="1"/>
          <p:nvPr/>
        </p:nvSpPr>
        <p:spPr>
          <a:xfrm>
            <a:off x="124629" y="2125458"/>
            <a:ext cx="5533697" cy="3839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50000"/>
              </a:lnSpc>
              <a:buFont typeface="+mj-lt"/>
              <a:buAutoNum type="arabicPeriod"/>
            </a:pPr>
            <a:r>
              <a:rPr lang="ko-KR" altLang="ko-KR" sz="1400" b="1" dirty="0"/>
              <a:t>구조 확장</a:t>
            </a:r>
            <a:r>
              <a:rPr lang="ko-KR" altLang="ko-KR" sz="1400" dirty="0"/>
              <a:t>: 6개에서 11개 노드로 확장</a:t>
            </a:r>
          </a:p>
          <a:p>
            <a:pPr marL="342900" lvl="0" indent="-342900">
              <a:lnSpc>
                <a:spcPct val="250000"/>
              </a:lnSpc>
              <a:buFont typeface="+mj-lt"/>
              <a:buAutoNum type="arabicPeriod"/>
            </a:pPr>
            <a:r>
              <a:rPr lang="ko-KR" altLang="ko-KR" sz="1400" b="1" dirty="0"/>
              <a:t>의도 분류 확장</a:t>
            </a:r>
            <a:r>
              <a:rPr lang="ko-KR" altLang="ko-KR" sz="1400" dirty="0"/>
              <a:t>: </a:t>
            </a:r>
            <a:r>
              <a:rPr lang="ko-KR" altLang="ko-KR" sz="1400" dirty="0" err="1"/>
              <a:t>일반·RAG·DB</a:t>
            </a:r>
            <a:r>
              <a:rPr lang="ko-KR" altLang="ko-KR" sz="1400" dirty="0"/>
              <a:t> 3개에서 </a:t>
            </a:r>
            <a:r>
              <a:rPr lang="ko-KR" altLang="ko-KR" sz="1400" dirty="0" err="1"/>
              <a:t>Hybrid</a:t>
            </a:r>
            <a:r>
              <a:rPr lang="ko-KR" altLang="ko-KR" sz="1400" dirty="0"/>
              <a:t> 포함 4개로 확장</a:t>
            </a:r>
          </a:p>
          <a:p>
            <a:pPr marL="342900" lvl="0" indent="-342900">
              <a:lnSpc>
                <a:spcPct val="250000"/>
              </a:lnSpc>
              <a:buFont typeface="+mj-lt"/>
              <a:buAutoNum type="arabicPeriod"/>
            </a:pPr>
            <a:r>
              <a:rPr lang="ko-KR" altLang="ko-KR" sz="1400" b="1" dirty="0"/>
              <a:t>대화 맥락 반영</a:t>
            </a:r>
            <a:r>
              <a:rPr lang="ko-KR" altLang="ko-KR" sz="1400" dirty="0"/>
              <a:t>: 이전 대화를 분석해 후속 질문 재구성</a:t>
            </a:r>
          </a:p>
          <a:p>
            <a:pPr marL="342900" lvl="0" indent="-342900">
              <a:lnSpc>
                <a:spcPct val="250000"/>
              </a:lnSpc>
              <a:buFont typeface="+mj-lt"/>
              <a:buAutoNum type="arabicPeriod"/>
            </a:pPr>
            <a:r>
              <a:rPr lang="ko-KR" altLang="ko-KR" sz="1400" b="1" dirty="0"/>
              <a:t>병렬 처리 추가</a:t>
            </a:r>
            <a:r>
              <a:rPr lang="ko-KR" altLang="ko-KR" sz="1400" dirty="0"/>
              <a:t>: </a:t>
            </a:r>
            <a:r>
              <a:rPr lang="ko-KR" altLang="ko-KR" sz="1400" dirty="0" err="1"/>
              <a:t>RAG와</a:t>
            </a:r>
            <a:r>
              <a:rPr lang="ko-KR" altLang="ko-KR" sz="1400" dirty="0"/>
              <a:t> Text2SQL을 동시에 실행하고 결과 통합</a:t>
            </a:r>
          </a:p>
          <a:p>
            <a:pPr marL="342900" lvl="0" indent="-342900">
              <a:lnSpc>
                <a:spcPct val="250000"/>
              </a:lnSpc>
              <a:buFont typeface="+mj-lt"/>
              <a:buAutoNum type="arabicPeriod"/>
            </a:pPr>
            <a:r>
              <a:rPr lang="ko-KR" altLang="ko-KR" sz="1400" b="1" dirty="0"/>
              <a:t>검증 강화</a:t>
            </a:r>
            <a:r>
              <a:rPr lang="ko-KR" altLang="ko-KR" sz="1400" dirty="0"/>
              <a:t>: 문서 </a:t>
            </a:r>
            <a:r>
              <a:rPr lang="ko-KR" altLang="ko-KR" sz="1400" dirty="0" err="1"/>
              <a:t>관련성·DB</a:t>
            </a:r>
            <a:r>
              <a:rPr lang="ko-KR" altLang="ko-KR" sz="1400" dirty="0"/>
              <a:t> </a:t>
            </a:r>
            <a:r>
              <a:rPr lang="ko-KR" altLang="ko-KR" sz="1400" dirty="0" err="1"/>
              <a:t>결과·최종</a:t>
            </a:r>
            <a:r>
              <a:rPr lang="ko-KR" altLang="ko-KR" sz="1400" dirty="0"/>
              <a:t> 답변의 근거와 환각 검증</a:t>
            </a:r>
          </a:p>
          <a:p>
            <a:pPr marL="342900" lvl="0" indent="-342900">
              <a:lnSpc>
                <a:spcPct val="250000"/>
              </a:lnSpc>
              <a:buFont typeface="+mj-lt"/>
              <a:buAutoNum type="arabicPeriod"/>
            </a:pPr>
            <a:r>
              <a:rPr lang="ko-KR" altLang="ko-KR" sz="1400" b="1" dirty="0"/>
              <a:t>재시도 분리</a:t>
            </a:r>
            <a:r>
              <a:rPr lang="ko-KR" altLang="ko-KR" sz="1400" dirty="0"/>
              <a:t>: 하나의 재시도 횟수를 </a:t>
            </a:r>
            <a:r>
              <a:rPr lang="ko-KR" altLang="ko-KR" sz="1400" dirty="0" err="1"/>
              <a:t>RAG·DB·답변별로</a:t>
            </a:r>
            <a:r>
              <a:rPr lang="ko-KR" altLang="ko-KR" sz="1400" dirty="0"/>
              <a:t> 분리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ko-KR" alt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52288"/>
            <a:ext cx="7346755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05 ·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데모에서 던져볼 수 있는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및 실시간 데모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완성된 데모에서 제대로 동작하는 예시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준비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70988"/>
            <a:ext cx="1882118" cy="541687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dirty="0"/>
              <a:t>질문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1260443"/>
            <a:ext cx="4267322" cy="295466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rPr dirty="0"/>
              <a:t>RAG, </a:t>
            </a:r>
            <a:r>
              <a:rPr lang="en-US" dirty="0"/>
              <a:t>Text2SQL</a:t>
            </a:r>
            <a:r>
              <a:rPr dirty="0"/>
              <a:t>, </a:t>
            </a:r>
            <a:r>
              <a:rPr dirty="0" err="1"/>
              <a:t>Hybrid가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동작하도록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유형을</a:t>
            </a:r>
            <a:r>
              <a:rPr dirty="0"/>
              <a:t> </a:t>
            </a:r>
            <a:r>
              <a:rPr dirty="0" err="1"/>
              <a:t>분산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7" y="2291885"/>
            <a:ext cx="10824185" cy="8612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2538773"/>
            <a:ext cx="939306" cy="267858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EF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544515"/>
            <a:ext cx="939306" cy="2800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1705" y="2541459"/>
            <a:ext cx="8070665" cy="3031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25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250" dirty="0" err="1">
                <a:solidFill>
                  <a:srgbClr val="0F2236"/>
                </a:solidFill>
                <a:latin typeface="맑은 고딕"/>
              </a:rPr>
              <a:t>홈캠이</a:t>
            </a:r>
            <a:r>
              <a:rPr lang="ko-KR" altLang="ko-KR" sz="1250" dirty="0">
                <a:solidFill>
                  <a:srgbClr val="0F2236"/>
                </a:solidFill>
                <a:latin typeface="맑은 고딕"/>
              </a:rPr>
              <a:t> 혼자 움직이고 모르는 접속 기록이 있는데 어떻게 점검해야 하나요?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IoT 디바이스 보안 점검 도우미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9D0CE063-DC7C-9EC3-EF8B-C94F169CD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6" y="9434"/>
            <a:ext cx="12192000" cy="68485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177EB5-7B3E-FFFD-C643-89E4EC60E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1BBA47-844E-AF97-5B7A-F6FA62904961}"/>
              </a:ext>
            </a:extLst>
          </p:cNvPr>
          <p:cNvSpPr txBox="1"/>
          <p:nvPr/>
        </p:nvSpPr>
        <p:spPr>
          <a:xfrm>
            <a:off x="658368" y="352288"/>
            <a:ext cx="7346755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05 ·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데모에서 던져볼 수 있는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및 실시간 데모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완성된 데모에서 제대로 동작하는 예시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준비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F62B4-6EAC-D604-33DD-452DE8600A85}"/>
              </a:ext>
            </a:extLst>
          </p:cNvPr>
          <p:cNvSpPr txBox="1"/>
          <p:nvPr/>
        </p:nvSpPr>
        <p:spPr>
          <a:xfrm>
            <a:off x="621792" y="670988"/>
            <a:ext cx="1882118" cy="541687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dirty="0"/>
              <a:t>질문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0B038-585E-291B-5008-4A1A78D46F22}"/>
              </a:ext>
            </a:extLst>
          </p:cNvPr>
          <p:cNvSpPr txBox="1"/>
          <p:nvPr/>
        </p:nvSpPr>
        <p:spPr>
          <a:xfrm>
            <a:off x="658368" y="1260443"/>
            <a:ext cx="4267322" cy="295466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rPr dirty="0"/>
              <a:t>RAG, </a:t>
            </a:r>
            <a:r>
              <a:rPr lang="en-US" dirty="0"/>
              <a:t>Text2SQL</a:t>
            </a:r>
            <a:r>
              <a:rPr dirty="0"/>
              <a:t>, </a:t>
            </a:r>
            <a:r>
              <a:rPr dirty="0" err="1"/>
              <a:t>Hybrid가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동작하도록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유형을</a:t>
            </a:r>
            <a:r>
              <a:rPr dirty="0"/>
              <a:t> </a:t>
            </a:r>
            <a:r>
              <a:rPr dirty="0" err="1"/>
              <a:t>분산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CEFDC6-ACA8-CCD0-3205-43FAF04774D3}"/>
              </a:ext>
            </a:extLst>
          </p:cNvPr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75A229-D12B-4A26-4E2D-A73C9D21BF38}"/>
              </a:ext>
            </a:extLst>
          </p:cNvPr>
          <p:cNvSpPr/>
          <p:nvPr/>
        </p:nvSpPr>
        <p:spPr>
          <a:xfrm>
            <a:off x="658367" y="2312905"/>
            <a:ext cx="10740102" cy="7456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31D8BD-14A2-EEB2-5BF0-41A256477657}"/>
              </a:ext>
            </a:extLst>
          </p:cNvPr>
          <p:cNvSpPr/>
          <p:nvPr/>
        </p:nvSpPr>
        <p:spPr>
          <a:xfrm>
            <a:off x="822958" y="2559793"/>
            <a:ext cx="932009" cy="231900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EF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F2BAC2-4BF1-8FEA-FDF2-F8D5EEF31EA0}"/>
              </a:ext>
            </a:extLst>
          </p:cNvPr>
          <p:cNvSpPr txBox="1"/>
          <p:nvPr/>
        </p:nvSpPr>
        <p:spPr>
          <a:xfrm>
            <a:off x="822958" y="2541060"/>
            <a:ext cx="932009" cy="2800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RAG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26E0E-DA2F-C0BF-3F4D-DE63FA8BDE85}"/>
              </a:ext>
            </a:extLst>
          </p:cNvPr>
          <p:cNvSpPr txBox="1"/>
          <p:nvPr/>
        </p:nvSpPr>
        <p:spPr>
          <a:xfrm>
            <a:off x="2001705" y="2535987"/>
            <a:ext cx="8007971" cy="3031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25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250" dirty="0">
                <a:solidFill>
                  <a:srgbClr val="0F2236"/>
                </a:solidFill>
                <a:latin typeface="맑은 고딕"/>
              </a:rPr>
              <a:t>공유기에 모르는 기기가 연결되어 있을 때 바로 어떤 조치를 해야 하나요?</a:t>
            </a:r>
            <a:endParaRPr dirty="0"/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31D66379-1193-6256-A849-369F0CE9E402}"/>
              </a:ext>
            </a:extLst>
          </p:cNvPr>
          <p:cNvCxnSpPr/>
          <p:nvPr/>
        </p:nvCxnSpPr>
        <p:spPr>
          <a:xfrm>
            <a:off x="658368" y="6537960"/>
            <a:ext cx="1086307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6AFDB20-F9B4-5259-FD0C-8C68B00E9132}"/>
              </a:ext>
            </a:extLst>
          </p:cNvPr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IoT 디바이스 보안 점검 도우미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9DD5C8-D254-967E-48A5-DAF33E576E5C}"/>
              </a:ext>
            </a:extLst>
          </p:cNvPr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97F448-0477-5437-C22E-E1E442895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72"/>
            <a:ext cx="12192000" cy="680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9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92246-60FF-4FB8-885C-328BBEBFA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57924E-6E72-6362-DF8A-C97B6AA0847B}"/>
              </a:ext>
            </a:extLst>
          </p:cNvPr>
          <p:cNvSpPr txBox="1"/>
          <p:nvPr/>
        </p:nvSpPr>
        <p:spPr>
          <a:xfrm>
            <a:off x="658368" y="352288"/>
            <a:ext cx="7346755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05 ·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데모에서 던져볼 수 있는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및 실시간 데모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완성된 데모에서 제대로 동작하는 예시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준비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A9949-DD1D-578A-BA0D-0BFCFC79EA8B}"/>
              </a:ext>
            </a:extLst>
          </p:cNvPr>
          <p:cNvSpPr txBox="1"/>
          <p:nvPr/>
        </p:nvSpPr>
        <p:spPr>
          <a:xfrm>
            <a:off x="621792" y="670988"/>
            <a:ext cx="1882118" cy="541687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dirty="0"/>
              <a:t>질문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0D9E2-BF48-07F1-7D07-8F73A7AA55A9}"/>
              </a:ext>
            </a:extLst>
          </p:cNvPr>
          <p:cNvSpPr txBox="1"/>
          <p:nvPr/>
        </p:nvSpPr>
        <p:spPr>
          <a:xfrm>
            <a:off x="658368" y="1260443"/>
            <a:ext cx="4267322" cy="295466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rPr dirty="0"/>
              <a:t>RAG, </a:t>
            </a:r>
            <a:r>
              <a:rPr lang="en-US" dirty="0"/>
              <a:t>Text2SQL</a:t>
            </a:r>
            <a:r>
              <a:rPr dirty="0"/>
              <a:t>, </a:t>
            </a:r>
            <a:r>
              <a:rPr dirty="0" err="1"/>
              <a:t>Hybrid가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동작하도록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유형을</a:t>
            </a:r>
            <a:r>
              <a:rPr dirty="0"/>
              <a:t> </a:t>
            </a:r>
            <a:r>
              <a:rPr dirty="0" err="1"/>
              <a:t>분산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37315-826C-3178-DAB7-291813ECDBEF}"/>
              </a:ext>
            </a:extLst>
          </p:cNvPr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67FC7E-7DF4-A11A-D617-A5FD2BA0A0CC}"/>
              </a:ext>
            </a:extLst>
          </p:cNvPr>
          <p:cNvSpPr/>
          <p:nvPr/>
        </p:nvSpPr>
        <p:spPr>
          <a:xfrm>
            <a:off x="658367" y="2207803"/>
            <a:ext cx="10729592" cy="7771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C347573-217A-E6A8-D6C2-931EFCED41FC}"/>
              </a:ext>
            </a:extLst>
          </p:cNvPr>
          <p:cNvSpPr/>
          <p:nvPr/>
        </p:nvSpPr>
        <p:spPr>
          <a:xfrm>
            <a:off x="822958" y="2454691"/>
            <a:ext cx="931097" cy="241707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EF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A684E-A00F-7B66-675D-0D5200F5AFD9}"/>
              </a:ext>
            </a:extLst>
          </p:cNvPr>
          <p:cNvSpPr txBox="1"/>
          <p:nvPr/>
        </p:nvSpPr>
        <p:spPr>
          <a:xfrm>
            <a:off x="822958" y="2442633"/>
            <a:ext cx="931097" cy="2800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맑은 고딕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Text2SQL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8E6C6B-A459-90F1-FBDC-C7AC70C8845C}"/>
              </a:ext>
            </a:extLst>
          </p:cNvPr>
          <p:cNvSpPr txBox="1"/>
          <p:nvPr/>
        </p:nvSpPr>
        <p:spPr>
          <a:xfrm>
            <a:off x="2001705" y="2438110"/>
            <a:ext cx="8000135" cy="3031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25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250" dirty="0" err="1">
                <a:solidFill>
                  <a:srgbClr val="0F2236"/>
                </a:solidFill>
                <a:latin typeface="맑은 고딕"/>
              </a:rPr>
              <a:t>IoT</a:t>
            </a:r>
            <a:r>
              <a:rPr lang="ko-KR" altLang="ko-KR" sz="1250" dirty="0">
                <a:solidFill>
                  <a:srgbClr val="0F2236"/>
                </a:solidFill>
                <a:latin typeface="맑은 고딕"/>
              </a:rPr>
              <a:t> 계정 탈취 사고에는 어떤 증상이 있고 권장 조치는 무엇인가요?</a:t>
            </a:r>
            <a:endParaRPr dirty="0"/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60E358CC-9FEB-BBFC-F5E5-B3726B593F44}"/>
              </a:ext>
            </a:extLst>
          </p:cNvPr>
          <p:cNvCxnSpPr/>
          <p:nvPr/>
        </p:nvCxnSpPr>
        <p:spPr>
          <a:xfrm>
            <a:off x="658368" y="6537960"/>
            <a:ext cx="1086307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6D998D1-113E-BA73-400A-975A5F83BA5C}"/>
              </a:ext>
            </a:extLst>
          </p:cNvPr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IoT 디바이스 보안 점검 도우미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6492B2-2FC8-28E5-540C-D02B764917A8}"/>
              </a:ext>
            </a:extLst>
          </p:cNvPr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E70FE5-024C-C638-4EB7-F6B301EF6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30"/>
            <a:ext cx="12192000" cy="679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2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D2863-D98F-E492-0DED-567446345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3962C-3719-37B7-EECE-BDC92A75CDD4}"/>
              </a:ext>
            </a:extLst>
          </p:cNvPr>
          <p:cNvSpPr txBox="1"/>
          <p:nvPr/>
        </p:nvSpPr>
        <p:spPr>
          <a:xfrm>
            <a:off x="658368" y="352288"/>
            <a:ext cx="7346755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05 ·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데모에서 던져볼 수 있는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및 실시간 데모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완성된 데모에서 제대로 동작하는 예시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준비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3B371F-CCB1-D366-110D-9D313FB95A6C}"/>
              </a:ext>
            </a:extLst>
          </p:cNvPr>
          <p:cNvSpPr txBox="1"/>
          <p:nvPr/>
        </p:nvSpPr>
        <p:spPr>
          <a:xfrm>
            <a:off x="621792" y="670988"/>
            <a:ext cx="1882118" cy="541687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dirty="0"/>
              <a:t>질문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AD40B-07B8-3750-E6D4-55ED81BA8095}"/>
              </a:ext>
            </a:extLst>
          </p:cNvPr>
          <p:cNvSpPr txBox="1"/>
          <p:nvPr/>
        </p:nvSpPr>
        <p:spPr>
          <a:xfrm>
            <a:off x="658368" y="1260443"/>
            <a:ext cx="4267322" cy="295466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rPr dirty="0"/>
              <a:t>RAG, </a:t>
            </a:r>
            <a:r>
              <a:rPr lang="en-US" dirty="0"/>
              <a:t>Text2SQL</a:t>
            </a:r>
            <a:r>
              <a:rPr dirty="0"/>
              <a:t>, </a:t>
            </a:r>
            <a:r>
              <a:rPr dirty="0" err="1"/>
              <a:t>Hybrid가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동작하도록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유형을</a:t>
            </a:r>
            <a:r>
              <a:rPr dirty="0"/>
              <a:t> </a:t>
            </a:r>
            <a:r>
              <a:rPr dirty="0" err="1"/>
              <a:t>분산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5C14E-20B9-B7BD-F795-0DD23DF1A23E}"/>
              </a:ext>
            </a:extLst>
          </p:cNvPr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129CBF33-3427-54D7-D56C-C346ABD63500}"/>
              </a:ext>
            </a:extLst>
          </p:cNvPr>
          <p:cNvCxnSpPr/>
          <p:nvPr/>
        </p:nvCxnSpPr>
        <p:spPr>
          <a:xfrm>
            <a:off x="658368" y="6537960"/>
            <a:ext cx="1086307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8CC55AB-FA0F-F09E-E40B-39C195BBD54B}"/>
              </a:ext>
            </a:extLst>
          </p:cNvPr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IoT 디바이스 보안 점검 도우미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4662E2-634B-2B94-EAB5-0A56BE9ED564}"/>
              </a:ext>
            </a:extLst>
          </p:cNvPr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973E8294-85F0-028B-7163-DAA047B08DFF}"/>
              </a:ext>
            </a:extLst>
          </p:cNvPr>
          <p:cNvSpPr/>
          <p:nvPr/>
        </p:nvSpPr>
        <p:spPr>
          <a:xfrm>
            <a:off x="658367" y="2591432"/>
            <a:ext cx="10713826" cy="6615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1C0A283A-0E56-18C7-5BFB-0C6725942F71}"/>
              </a:ext>
            </a:extLst>
          </p:cNvPr>
          <p:cNvSpPr/>
          <p:nvPr/>
        </p:nvSpPr>
        <p:spPr>
          <a:xfrm>
            <a:off x="822958" y="2838320"/>
            <a:ext cx="929729" cy="205747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EF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ADC37E-6AA8-1447-AD1E-25163CB5993D}"/>
              </a:ext>
            </a:extLst>
          </p:cNvPr>
          <p:cNvSpPr txBox="1"/>
          <p:nvPr/>
        </p:nvSpPr>
        <p:spPr>
          <a:xfrm>
            <a:off x="822958" y="2801787"/>
            <a:ext cx="929729" cy="2800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맑은 고딕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Text2SQL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D47E71-5430-3DD4-5FC0-59F5E858D1D9}"/>
              </a:ext>
            </a:extLst>
          </p:cNvPr>
          <p:cNvSpPr txBox="1"/>
          <p:nvPr/>
        </p:nvSpPr>
        <p:spPr>
          <a:xfrm>
            <a:off x="2001705" y="2795248"/>
            <a:ext cx="7988379" cy="3031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25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250" dirty="0" err="1">
                <a:solidFill>
                  <a:srgbClr val="0F2236"/>
                </a:solidFill>
                <a:latin typeface="맑은 고딕"/>
              </a:rPr>
              <a:t>IoT</a:t>
            </a:r>
            <a:r>
              <a:rPr lang="ko-KR" altLang="ko-KR" sz="1250" dirty="0">
                <a:solidFill>
                  <a:srgbClr val="0F2236"/>
                </a:solidFill>
                <a:latin typeface="맑은 고딕"/>
              </a:rPr>
              <a:t> 해킹으로 금전 피해가 발생하면 어디에 신고해야 하나요? </a:t>
            </a:r>
            <a:endParaRPr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00E1EAF-0944-4CEA-75EE-5320C6B73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079"/>
            <a:ext cx="12192000" cy="676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0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7543E6-756A-FF87-B4C0-BD9EA064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A6FD4E-4280-22EF-693A-136CDDD5B82C}"/>
              </a:ext>
            </a:extLst>
          </p:cNvPr>
          <p:cNvSpPr txBox="1"/>
          <p:nvPr/>
        </p:nvSpPr>
        <p:spPr>
          <a:xfrm>
            <a:off x="658368" y="352288"/>
            <a:ext cx="7346755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05 ·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데모에서 던져볼 수 있는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및 실시간 데모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완성된 데모에서 제대로 동작하는 예시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준비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95371-FE88-C159-161E-E301CB77462A}"/>
              </a:ext>
            </a:extLst>
          </p:cNvPr>
          <p:cNvSpPr txBox="1"/>
          <p:nvPr/>
        </p:nvSpPr>
        <p:spPr>
          <a:xfrm>
            <a:off x="621792" y="670988"/>
            <a:ext cx="1882118" cy="541687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dirty="0"/>
              <a:t>질문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25938-CD8C-F90E-57C7-9EA6AB9B0853}"/>
              </a:ext>
            </a:extLst>
          </p:cNvPr>
          <p:cNvSpPr txBox="1"/>
          <p:nvPr/>
        </p:nvSpPr>
        <p:spPr>
          <a:xfrm>
            <a:off x="658368" y="1260443"/>
            <a:ext cx="4267322" cy="295466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rPr dirty="0"/>
              <a:t>RAG, </a:t>
            </a:r>
            <a:r>
              <a:rPr lang="en-US" dirty="0"/>
              <a:t>Text2SQL</a:t>
            </a:r>
            <a:r>
              <a:rPr dirty="0"/>
              <a:t>, </a:t>
            </a:r>
            <a:r>
              <a:rPr dirty="0" err="1"/>
              <a:t>Hybrid가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동작하도록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유형을</a:t>
            </a:r>
            <a:r>
              <a:rPr dirty="0"/>
              <a:t> </a:t>
            </a:r>
            <a:r>
              <a:rPr dirty="0" err="1"/>
              <a:t>분산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CE2FF-7B25-D17F-8183-6FA1CB07CBF6}"/>
              </a:ext>
            </a:extLst>
          </p:cNvPr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5D8C364F-2206-3467-B674-E54DD13D5E2F}"/>
              </a:ext>
            </a:extLst>
          </p:cNvPr>
          <p:cNvCxnSpPr/>
          <p:nvPr/>
        </p:nvCxnSpPr>
        <p:spPr>
          <a:xfrm>
            <a:off x="658368" y="6537960"/>
            <a:ext cx="1086307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BA5E861-BB45-F148-6F18-5E9022DD057C}"/>
              </a:ext>
            </a:extLst>
          </p:cNvPr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IoT 디바이스 보안 점검 도우미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35212A-7D7E-AB5A-160E-2B4C0700B40B}"/>
              </a:ext>
            </a:extLst>
          </p:cNvPr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520F9D07-EC94-281A-6C94-581F6A88B7D3}"/>
              </a:ext>
            </a:extLst>
          </p:cNvPr>
          <p:cNvSpPr/>
          <p:nvPr/>
        </p:nvSpPr>
        <p:spPr>
          <a:xfrm>
            <a:off x="658367" y="2481072"/>
            <a:ext cx="10634999" cy="7088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96A32F91-7AB9-F784-17D9-D87D333B0C48}"/>
              </a:ext>
            </a:extLst>
          </p:cNvPr>
          <p:cNvSpPr/>
          <p:nvPr/>
        </p:nvSpPr>
        <p:spPr>
          <a:xfrm>
            <a:off x="895538" y="2727960"/>
            <a:ext cx="1365103" cy="220457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EF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20DCEB-91B7-1CB3-925D-53B2DFA63AC0}"/>
              </a:ext>
            </a:extLst>
          </p:cNvPr>
          <p:cNvSpPr txBox="1"/>
          <p:nvPr/>
        </p:nvSpPr>
        <p:spPr>
          <a:xfrm>
            <a:off x="822959" y="2701439"/>
            <a:ext cx="1438188" cy="2800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맑은 고딕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RAG + Text2SQL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9CF7D2-FC62-784E-156C-0D31DEF5A246}"/>
              </a:ext>
            </a:extLst>
          </p:cNvPr>
          <p:cNvSpPr txBox="1"/>
          <p:nvPr/>
        </p:nvSpPr>
        <p:spPr>
          <a:xfrm>
            <a:off x="2415789" y="2695725"/>
            <a:ext cx="7512636" cy="3031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25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250" dirty="0" err="1">
                <a:solidFill>
                  <a:srgbClr val="0F2236"/>
                </a:solidFill>
                <a:latin typeface="맑은 고딕"/>
              </a:rPr>
              <a:t>홈캠</a:t>
            </a:r>
            <a:r>
              <a:rPr lang="ko-KR" altLang="ko-KR" sz="1250" dirty="0">
                <a:solidFill>
                  <a:srgbClr val="0F2236"/>
                </a:solidFill>
                <a:latin typeface="맑은 고딕"/>
              </a:rPr>
              <a:t> 영상 유출이 의심됩니다. 지금 해야 할 조치와 신고 </a:t>
            </a:r>
            <a:r>
              <a:rPr lang="ko-KR" altLang="ko-KR" sz="1250" dirty="0" err="1">
                <a:solidFill>
                  <a:srgbClr val="0F2236"/>
                </a:solidFill>
                <a:latin typeface="맑은 고딕"/>
              </a:rPr>
              <a:t>기관·전화번호를</a:t>
            </a:r>
            <a:r>
              <a:rPr lang="ko-KR" altLang="ko-KR" sz="1250" dirty="0">
                <a:solidFill>
                  <a:srgbClr val="0F2236"/>
                </a:solidFill>
                <a:latin typeface="맑은 고딕"/>
              </a:rPr>
              <a:t> 함께 알려주세요. </a:t>
            </a:r>
            <a:endParaRPr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3A42734-DCEF-9A2D-3F08-DB9FA66E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82"/>
            <a:ext cx="12192000" cy="680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0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04067" y="2458417"/>
            <a:ext cx="2098524" cy="587853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>
              <a:defRPr sz="3100" b="1">
                <a:solidFill>
                  <a:srgbClr val="2563EB"/>
                </a:solidFill>
                <a:latin typeface="맑은 고딕"/>
              </a:defRPr>
            </a:pP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감사합니다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4251960" y="3401568"/>
            <a:ext cx="368503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829</Words>
  <Application>Microsoft Office PowerPoint</Application>
  <PresentationFormat>와이드스크린</PresentationFormat>
  <Paragraphs>135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디바이스 보안 점검 Agent 최종 발표</dc:title>
  <dc:subject>RAG · Text2SQL · LangGraph 기반 IoT 보안 점검 시스템</dc:subject>
  <dc:creator>SMU 팀 프로젝트</dc:creator>
  <cp:keywords>IoT, RAG, Text2SQL, LangGraph, Qdrant, Supabase</cp:keywords>
  <dc:description>generated using python-pptx</dc:description>
  <cp:lastModifiedBy>후민 강</cp:lastModifiedBy>
  <cp:revision>20</cp:revision>
  <dcterms:created xsi:type="dcterms:W3CDTF">2013-01-27T09:14:16Z</dcterms:created>
  <dcterms:modified xsi:type="dcterms:W3CDTF">2026-08-25T03:21:58Z</dcterms:modified>
  <cp:version/>
</cp:coreProperties>
</file>